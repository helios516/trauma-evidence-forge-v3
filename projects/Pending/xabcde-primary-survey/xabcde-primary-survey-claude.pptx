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xABCDE: Hemorrhage Kills First,
So Treat It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C98CA"/>
                </a:solidFill>
                <a:latin typeface="Calibri"/>
              </a:rPr>
              <a:t>Evan DeCan, MD  |  Division of Acute Care Surgery  |  University of Virginia  | 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1.  Apply the xABCDE framework to systematically prioritize life-threatening interventions in a trauma patient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2.  Identify clinical and physiologic indications for definitive airway management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3.  Classify hemorrhagic shock by class and initiate massive transfusion protocol at appropriate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22-Year-Old MVC: Unresponsive, Hypotensive, Tachycardic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Mechanism:   High-speed MVC, unrestrained driver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Vitals:           HR 130  |  BP 80/50  |  RR 28  |  SpO2 92%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GCS:              8  (E2 V2 M4)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Key finding:  Distended abdomen, deformed pelvis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Clinical Q:    What is your FIRST intervention?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Multiple life threats demand a systematic prioritized approach.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Exsanguination Is the Leading Cause of Preventable Trauma Death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Hemorrhage causes 30–40% of trauma mortality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90.9% of survivable battlefield deaths from bleeding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Tourniquet within 15 min: high efficacy, low complication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46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98CA"/>
                </a:solidFill>
                <a:latin typeface="Calibri"/>
              </a:rPr>
              <a:t>KEY STAT:  90.9% of preventable deaths = hemorrhage  (Eastridge 2012)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The X in xABCDE exists because hemorrhage kills fastest.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8CA"/>
                </a:solidFill>
                <a:latin typeface="Calibri"/>
              </a:rPr>
              <a:t>Sources: [11][18]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Massive External Hemorrhage Control Precedes Airway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Tourniquet for extremity hemorrhage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Direct pressure and wound packing for junctional wounds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Pelvic binder for unstable pelvic fractures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46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98CA"/>
                </a:solidFill>
                <a:latin typeface="Calibri"/>
              </a:rPr>
              <a:t>KEY STAT:  Tourniquet + binder before intubation saves lives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In exsanguination, stop the bleeding before managing the airway.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8CA"/>
                </a:solidFill>
                <a:latin typeface="Calibri"/>
              </a:rPr>
              <a:t>Sources: [11][18]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Airway Obstruction Remains a Top Preventable Prehospital Death After Hemorrhage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Jaw thrust, suction, remove debris first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Supraglottic airway as bridge device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RSI for definitive airway when indicated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46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98CA"/>
                </a:solidFill>
                <a:latin typeface="Calibri"/>
              </a:rPr>
              <a:t>KEY STAT:  RSI is the recommended technique for trauma intubation  (EAST/WTA)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Assess, protect, then secure the airway using a stepwise algorithm.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8CA"/>
                </a:solidFill>
                <a:latin typeface="Calibri"/>
              </a:rPr>
              <a:t>Sources: [15][16]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GCS 8 or Less Is an Indication, Not an Absolute Mandate, for Intubation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GCS ≤8: strong indication for definitive airway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Assess airway patency, gag reflex, trajectory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Other triggers: obstruction, facial trauma, combativeness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46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98CA"/>
                </a:solidFill>
                <a:latin typeface="Calibri"/>
              </a:rPr>
              <a:t>KEY STAT:  Rigid GCS ≤8 threshold may increase mortality  (PMID: 32382780)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GCS is one factor; clinical context determines the airway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8CA"/>
                </a:solidFill>
                <a:latin typeface="Calibri"/>
              </a:rPr>
              <a:t>Sources: [10][15][16]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C98CA"/>
                </a:solidFill>
                <a:latin typeface="Calibri"/>
              </a:rPr>
              <a:t>Clinical Decision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35M GSW right chest/abdomen. HR 140, BP 70/40, GCS 7. Active abdominal hemorrhage, gurgling respirations. First intervention?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1430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  A.  Rapid sequence intubation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  B.  Direct pressure to abdominal wound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  C.  Bilateral needle decompression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  D.  FAST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Think xABCDE — what kills this patient first?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8C98CA"/>
                </a:solidFill>
                <a:latin typeface="Calibri"/>
              </a:rPr>
              <a:t>Answer: B — Control Hemorrhage First in the Exsanguinating Patient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430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Why B:      Active exsanguination is the immediate lethal threat; X before A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Why not A: GCS ≤8 alone does not override active hemorrhage control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Why not C: No clinical signs of tension pneumothorax described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Why not D: FAST delays definitive hemorrhage control in the unstable patient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Treat first what kills first — hemorrhage before airway in the exsanguinating patient.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8CA"/>
                </a:solidFill>
                <a:latin typeface="Calibri"/>
              </a:rPr>
              <a:t>Sources: [11][18]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Tension Pneumothorax Is a Clinical Diagnosis That Requires Immediate Decompression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Hypotension + absent breath sounds = decompress now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Never delay for CXR or imaging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Needle (2nd or 5th ICS) or finger thoracostomy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46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98CA"/>
                </a:solidFill>
                <a:latin typeface="Calibri"/>
              </a:rPr>
              <a:t>KEY STAT:  Clinical diagnosis — do NOT wait for imaging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Suspected tension pneumothorax is treated, not imaged.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8CA"/>
                </a:solidFill>
                <a:latin typeface="Calibri"/>
              </a:rPr>
              <a:t>Sources: [17]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"Blood on the Floor and Four More" Localizes the Five Sources of Hemorrhage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Chest, abdomen, pelvis, long bones, external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FAST identifies free fluid in unstable patients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Pelvic X-ray and CXR guide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46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98CA"/>
                </a:solidFill>
                <a:latin typeface="Calibri"/>
              </a:rPr>
              <a:t>KEY STAT:  5 sources — chest, abdomen, pelvis, long bones, external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Identify the bleeding source to direct surgical or interventional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8CA"/>
                </a:solidFill>
                <a:latin typeface="Calibri"/>
              </a:rPr>
              <a:t>Sources: [1][18]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Class III–IV Shock Requires Massive Transfusion Protocol Before Lab Results 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Shock Index &gt;1.0 = 4× mortality risk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ABC score ≥2 activates MTP at bedside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1:1:1 plasma : platelets : RBCs  (PROPPR)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46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98CA"/>
                </a:solidFill>
                <a:latin typeface="Calibri"/>
              </a:rPr>
              <a:t>KEY STAT:  Shock Index &gt;1.0 = 4-fold mortality increase  (Vang 2022)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Activate MTP on clinical criteria — do not wait for a hemoglobin.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8CA"/>
                </a:solidFill>
                <a:latin typeface="Calibri"/>
              </a:rPr>
              <a:t>Sources: [2][5][8][9]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Class III and IV Hemorrhagic Shock Demand Immediate Blood Product Resuscitation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97840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011680"/>
                <a:gridCol w="2011680"/>
                <a:gridCol w="2011680"/>
                <a:gridCol w="2011680"/>
              </a:tblGrid>
              <a:tr h="65151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A23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Class I</a:t>
                      </a:r>
                    </a:p>
                  </a:txBody>
                  <a:tcPr>
                    <a:solidFill>
                      <a:srgbClr val="1A23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Class II</a:t>
                      </a:r>
                    </a:p>
                  </a:txBody>
                  <a:tcPr>
                    <a:solidFill>
                      <a:srgbClr val="1A23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Class III</a:t>
                      </a:r>
                    </a:p>
                  </a:txBody>
                  <a:tcPr>
                    <a:solidFill>
                      <a:srgbClr val="1A23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Class IV</a:t>
                      </a:r>
                    </a:p>
                  </a:txBody>
                  <a:tcPr>
                    <a:solidFill>
                      <a:srgbClr val="1A2345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BECEF"/>
                          </a:solidFill>
                          <a:latin typeface="Calibri"/>
                        </a:rPr>
                        <a:t>Blood loss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&lt;750 mL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(&lt;15%)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750–1,500 mL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(15–30%)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1,500–2,000 mL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(30–40%)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&gt;2,000 mL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(&gt;40%)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BECEF"/>
                          </a:solidFill>
                          <a:latin typeface="Calibri"/>
                        </a:rPr>
                        <a:t>Heart rate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&lt;100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100–120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120–140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&gt;140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BECEF"/>
                          </a:solidFill>
                          <a:latin typeface="Calibri"/>
                        </a:rPr>
                        <a:t>Blood pressure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Decreased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Decreased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BECEF"/>
                          </a:solidFill>
                          <a:latin typeface="Calibri"/>
                        </a:rPr>
                        <a:t>Resp rate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14–20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20–30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30–40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&gt;35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BECEF"/>
                          </a:solidFill>
                          <a:latin typeface="Calibri"/>
                        </a:rPr>
                        <a:t>Urine output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&gt;30 mL/h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20–30 mL/h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5–15 mL/h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Negligible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BECEF"/>
                          </a:solidFill>
                          <a:latin typeface="Calibri"/>
                        </a:rPr>
                        <a:t>GCS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14–15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12–14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&lt;12</a:t>
                      </a:r>
                    </a:p>
                  </a:txBody>
                  <a:tcPr>
                    <a:solidFill>
                      <a:srgbClr val="121C3E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BECEF"/>
                          </a:solidFill>
                          <a:latin typeface="Calibri"/>
                        </a:rPr>
                        <a:t>Treatment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BECEF"/>
                          </a:solidFill>
                          <a:latin typeface="Calibri"/>
                        </a:rPr>
                        <a:t>Possible transfusion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Blood products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8C98CA"/>
                          </a:solidFill>
                          <a:latin typeface="Calibri"/>
                        </a:rPr>
                        <a:t>Massive transfusion</a:t>
                      </a:r>
                    </a:p>
                  </a:txBody>
                  <a:tcPr>
                    <a:solidFill>
                      <a:srgbClr val="101838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Our patient (HR 130, BP 80/50, GCS 8) fits Class III–IV — activate MTP.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8CA"/>
                </a:solidFill>
                <a:latin typeface="Calibri"/>
              </a:rPr>
              <a:t>Sources: [18]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FAST Answers One Question: Is There Free Fluid in the Unstable Patient?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Sensitivity 74%, specificity 98% for free fluid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Positive FAST + hypotension = operative intervention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Negative FAST does NOT exclude injury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46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98CA"/>
                </a:solidFill>
                <a:latin typeface="Calibri"/>
              </a:rPr>
              <a:t>KEY STAT:  Sensitivity only 74% — negative FAST does not rule out injury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FAST rules in; it does not rule out — a negative FAST demands further workup.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8CA"/>
                </a:solidFill>
                <a:latin typeface="Calibri"/>
              </a:rPr>
              <a:t>Sources: 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C98CA"/>
                </a:solidFill>
                <a:latin typeface="Calibri"/>
              </a:rPr>
              <a:t>Management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22M MVC patient: FAST positive (Morrison's pouch). BP 70/40 despite 2u pRBCs. GCS 7. Next step?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1430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  A.  CT abdomen/pelvis with contrast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  B.  Emergent exploratory laparotomy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  C.  Diagnostic peritoneal lavage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  D.  2 liters normal saline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FAST positive + unstable = OR, not CT scanner.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8C98CA"/>
                </a:solidFill>
                <a:latin typeface="Calibri"/>
              </a:rPr>
              <a:t>Answer: B — FAST Positive and Hemodynamically Unstable Means Emergent Laparotomy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430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Why B:      Positive FAST + refractory hypotension = OR for hemorrhage control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Why not A: CT requires hemodynamic stability; this patient is in extremis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Why not C: DPL is for equivocal FAST; this FAST is clearly positive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Why not D: Crystalloid worsens the lethal triad in hemorrhagic shock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Positive FAST plus hemodynamic instability equals the operating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8CA"/>
                </a:solidFill>
                <a:latin typeface="Calibri"/>
              </a:rPr>
              <a:t>Sources: [1][12][13]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GCS Components Plus Pupil Exam Constitute the Rapid Disability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GCS: Eye (1–4) + Verbal (1–5) + Motor (1–6) = 3–15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Motor component best predictor of outcome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Pupils: bilateral reactive vs fixed/dilated vs asymmetric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46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98CA"/>
                </a:solidFill>
                <a:latin typeface="Calibri"/>
              </a:rPr>
              <a:t>KEY STAT:  GCS ≤8 = severe TBI; assess motor score specifically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Report GCS by components (E/V/M), not just the total — motor matters most.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8CA"/>
                </a:solidFill>
                <a:latin typeface="Calibri"/>
              </a:rPr>
              <a:t>Sources: [10][18]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Exposure and Hypothermia Prevention Must Begin in the Trauma Bay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Full exposure: log roll for posterior exam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Lethal triad: hypothermia + acidosis + coagulopathy</a:t>
            </a:r>
          </a:p>
          <a:p>
            <a:pPr algn="l"/>
            <a:r>
              <a:rPr sz="1900" b="0" i="0">
                <a:solidFill>
                  <a:srgbClr val="EBECEF"/>
                </a:solidFill>
                <a:latin typeface="Calibri"/>
              </a:rPr>
              <a:t>•  Warm OR, warm blood, warm blankets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46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98CA"/>
                </a:solidFill>
                <a:latin typeface="Calibri"/>
              </a:rPr>
              <a:t>KEY STAT:  47.8% mortality when lethal triad is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Undress the patient to find injuries, then actively prevent hypothermia.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8CA"/>
                </a:solidFill>
                <a:latin typeface="Calibri"/>
              </a:rPr>
              <a:t>Sources: [12][13]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Five Pearls That Will Save Lives on Your Next Trauma Activation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1.  X before A  —  hemorrhage control precedes airway in the exsanguinating patient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2.  TXA within 3 hours  —  after 3 hours it increases mortality (CRASH-2)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3.  Shock Index &gt;1.0  —  calculate HR/SBP on every trauma patient; 4x mortality risk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4.  Negative FAST is not reassuring  —  sensitivity only 74%; pursue further workup</a:t>
            </a:r>
          </a:p>
          <a:p>
            <a:pPr algn="l"/>
            <a:r>
              <a:rPr sz="2000" b="0" i="0">
                <a:solidFill>
                  <a:srgbClr val="EBECEF"/>
                </a:solidFill>
                <a:latin typeface="Calibri"/>
              </a:rPr>
              <a:t>5.  Prevent the lethal triad  —  warm the patient, warm the blood, limit crystalloid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989320"/>
            <a:ext cx="11457432" cy="640080"/>
          </a:xfrm>
          <a:prstGeom prst="roundRect">
            <a:avLst>
              <a:gd name="adj" fmla="val 25000"/>
            </a:avLst>
          </a:prstGeom>
          <a:solidFill>
            <a:srgbClr val="8C9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 b="1">
                <a:solidFill>
                  <a:srgbClr val="FFFFFF"/>
                </a:solidFill>
                <a:latin typeface="Calibri"/>
              </a:rPr>
              <a:t>xABCDE saves lives — treat first what kills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5760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1.  Netherton S, et al. Diagnostic accuracy of eFAST. CJEM. 2019;21(6):727-738. PMID: 31317856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2.  Vang M, et al. Shock index as predictor of mortality. Eur J Trauma. 2022;48(4):2559-2566. PMID: 35258641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3.  Shakur H, et al. CRASH-2. Lancet. 2010;376(9734):23-32. PMID: 20554319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4.  Roberts I, et al. CRASH-2 exploratory. Lancet. 2011;377(9771):1096-1101. PMID: 21439633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5.  Holcomb JB, et al. PROPPR. JAMA. 2015;313(5):471-482. PMID: 25647203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6.  Sperry JL, et al. PAMPer. N Engl J Med. 2018;379(4):315-326. PMID: 30044935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7.  Bickell WH, et al. Delayed fluid resuscitation. N Engl J Med. 1994;331(17):1105-1109. PMID: 7935634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8.  Nunez TC, et al. ABC score. J Trauma. 2009;66(2):346-352. PMID: 19204506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9.  Cotton BA, et al. Multicenter ABC validation. J Trauma. 2010;69(S1):S33-S39. PMID: 20622617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10. Hatchimonji JS, et al. GCS=8 intubation dogma. Eur J Trauma. 2021;47:2073-2079. PMID: 32382780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822960"/>
            <a:ext cx="5760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11. Eastridge BJ, et al. Death on battlefield 2001-2011. J Trauma. 2012;73(S5):S431-S437. PMID: 23192066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12. Cannon JW, et al. DCR EAST guideline. J Trauma. 2017;82(3):605-617. PMID: 28225743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13. LaGrone LN, et al. AAST/ACS-COT DCR protocol. J Trauma. 2024;96(3):510-520. PMID: 37697470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14. Meizoso JP, et al. Whole blood EAST guideline. J Trauma. 2024;97(3):460-470. PMID: 38531812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15. Mayglothling J, et al. Emergency intubation EAST. J Trauma. 2012;73(S4):S333-S340. PMID: 23114490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16. Brown CVR, et al. WTA airway algorithm. Trauma Surg. 2020;5(1):e000539. PMID: 33083558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17. de Moya M, et al. WTA pneumothorax algorithm. J Trauma. 2022;92(1):103-107. PMID: 34538823</a:t>
            </a:r>
          </a:p>
          <a:p>
            <a:pPr algn="l"/>
            <a:r>
              <a:rPr sz="1000" b="0" i="0">
                <a:solidFill>
                  <a:srgbClr val="EBECEF"/>
                </a:solidFill>
                <a:latin typeface="Calibri"/>
              </a:rPr>
              <a:t>18. American College of Surgeons. ATLS 11th Edition. ACS;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98C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